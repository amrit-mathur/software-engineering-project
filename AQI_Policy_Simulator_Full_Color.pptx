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2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645920"/>
            <a:ext cx="109728" cy="4114800"/>
          </a:xfrm>
          <a:prstGeom prst="rect">
            <a:avLst/>
          </a:prstGeom>
          <a:solidFill>
            <a:srgbClr val="8FB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8FBF9F"/>
                </a:solidFill>
              </a:defRPr>
            </a:pPr>
            <a:r>
              <a:t>MUNICIPAL POLICY &amp; ATMOSPHERIC ML ENGINE</a:t>
            </a:r>
          </a:p>
          <a:p>
            <a:pPr>
              <a:spcAft>
                <a:spcPts val="1800"/>
              </a:spcAft>
              <a:defRPr sz="4000" b="1">
                <a:solidFill>
                  <a:srgbClr val="F6F3EC"/>
                </a:solidFill>
              </a:defRPr>
            </a:pPr>
            <a:r>
              <a:t>AQI Prediction &amp; Urban Policy Impact Simulator</a:t>
            </a:r>
          </a:p>
          <a:p>
            <a:pPr>
              <a:spcAft>
                <a:spcPts val="3200"/>
              </a:spcAft>
              <a:defRPr sz="1800">
                <a:solidFill>
                  <a:srgbClr val="E2E8F0"/>
                </a:solidFill>
              </a:defRPr>
            </a:pPr>
            <a:r>
              <a:t>A machine learning engine designed to quantify urban air quality dynamics and simulate municipal policy interventions prior to public enforcement.</a:t>
            </a:r>
          </a:p>
          <a:p>
            <a:pPr>
              <a:defRPr sz="1300">
                <a:solidFill>
                  <a:srgbClr val="8FBF9F"/>
                </a:solidFill>
              </a:defRPr>
            </a:pPr>
            <a:r>
              <a:t>Core Technology Stack: Python • Scikit-Learn • FastAPI • Streamlit • Joblib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8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FBF9F"/>
                </a:solidFill>
              </a:defRPr>
            </a:pPr>
            <a:r>
              <a:t>ENVIRONMENTAL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6F3EC"/>
                </a:solidFill>
              </a:defRPr>
            </a:pPr>
            <a:r>
              <a:t>The Governance Gap: Reactive Warnings vs. Proactive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029200" cy="4572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76516B"/>
                </a:solidFill>
              </a:defRPr>
            </a:pPr>
            <a:r>
              <a:rPr sz="2400" dirty="0"/>
              <a:t>1. Complex Environmental Interdependence</a:t>
            </a:r>
            <a:endParaRPr lang="en-US" sz="2400" dirty="0"/>
          </a:p>
          <a:p>
            <a:pPr algn="ctr">
              <a:spcAft>
                <a:spcPts val="1200"/>
              </a:spcAft>
              <a:defRPr sz="2000" b="1">
                <a:solidFill>
                  <a:srgbClr val="76516B"/>
                </a:solidFill>
              </a:defRPr>
            </a:pPr>
            <a:r>
              <a:rPr lang="en-IN" sz="800" dirty="0"/>
              <a:t> 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Urban AQI fluctuates non-linearly across multiple variables. Emission baselines from traffic and factory output interact dynamically with wind speed, temperature, and humidity dispersion rates.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Traditional linear models fail to capture these tipping points, leading to high estimation error during peak smog months.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842" y="1645920"/>
            <a:ext cx="5120640" cy="4572000"/>
          </a:xfrm>
          <a:prstGeom prst="rect">
            <a:avLst/>
          </a:prstGeom>
          <a:solidFill>
            <a:srgbClr val="7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8FBF9F"/>
                </a:solidFill>
              </a:defRPr>
            </a:pPr>
            <a:r>
              <a:rPr sz="2400" dirty="0"/>
              <a:t>2. Unquantified Policy Interventions</a:t>
            </a:r>
            <a:endParaRPr lang="en-US" sz="2400" dirty="0"/>
          </a:p>
          <a:p>
            <a:pPr algn="ctr">
              <a:spcAft>
                <a:spcPts val="1200"/>
              </a:spcAft>
              <a:defRPr sz="2000" b="1">
                <a:solidFill>
                  <a:srgbClr val="8FBF9F"/>
                </a:solidFill>
              </a:defRPr>
            </a:pPr>
            <a:r>
              <a:rPr lang="en-IN" sz="600" dirty="0"/>
              <a:t> </a:t>
            </a:r>
            <a:endParaRPr sz="600" dirty="0"/>
          </a:p>
          <a:p>
            <a:pPr>
              <a:defRPr sz="1400">
                <a:solidFill>
                  <a:srgbClr val="F6F3EC"/>
                </a:solidFill>
              </a:defRPr>
            </a:pPr>
            <a:r>
              <a:rPr sz="1600" dirty="0"/>
              <a:t>Municipalities traditionally react to severe pollution spikes after hazardous thresholds are crossed. Drastic policies like vehicle bans or factory closures are implemented without quantitative pre-evaluation.</a:t>
            </a:r>
            <a:br>
              <a:rPr sz="1600" dirty="0"/>
            </a:br>
            <a:br>
              <a:rPr sz="1600" dirty="0"/>
            </a:br>
            <a:r>
              <a:rPr sz="1600" dirty="0"/>
              <a:t>This creates public economic disruption without guaranteeing whether the intervention will successfully reduce local AQI to safe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FB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F8F9B"/>
                </a:solidFill>
              </a:defRPr>
            </a:pPr>
            <a:r>
              <a:t>ENVIRONMENTAL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6516B"/>
                </a:solidFill>
              </a:defRPr>
            </a:pPr>
            <a:r>
              <a:t>Engineered Solution: Predictive ML &amp; Policy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120640" cy="4572000"/>
          </a:xfrm>
          <a:prstGeom prst="rect">
            <a:avLst/>
          </a:prstGeom>
          <a:solidFill>
            <a:srgbClr val="7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8FBF9F"/>
                </a:solidFill>
              </a:defRPr>
            </a:pPr>
            <a:r>
              <a:rPr dirty="0"/>
              <a:t>01 / PREDICTION ENGINE</a:t>
            </a:r>
          </a:p>
          <a:p>
            <a:pPr>
              <a:spcAft>
                <a:spcPts val="1400"/>
              </a:spcAft>
              <a:defRPr sz="2200" b="1">
                <a:solidFill>
                  <a:srgbClr val="F6F3EC"/>
                </a:solidFill>
              </a:defRPr>
            </a:pPr>
            <a:r>
              <a:rPr dirty="0"/>
              <a:t>Deterministic ML Core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rPr dirty="0"/>
              <a:t>A Random Forest model trained on multi-source weather, traffic, and industrial spatial metrics.</a:t>
            </a:r>
            <a:br>
              <a:rPr dirty="0"/>
            </a:br>
            <a:br>
              <a:rPr dirty="0"/>
            </a:br>
            <a:r>
              <a:rPr dirty="0"/>
              <a:t>It captures complex non-linear atmospheric interactions to deliver accurate hourly AQI forecasts, outperforming mean baselines by over 75%.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6F8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F6F3EC"/>
                </a:solidFill>
              </a:defRPr>
            </a:pPr>
            <a:r>
              <a:t>02 / SIMULATION ENGINE</a:t>
            </a:r>
          </a:p>
          <a:p>
            <a:pPr>
              <a:spcAft>
                <a:spcPts val="1400"/>
              </a:spcAft>
              <a:defRPr sz="2200" b="1">
                <a:solidFill>
                  <a:srgbClr val="F6F3EC"/>
                </a:solidFill>
              </a:defRPr>
            </a:pPr>
            <a:r>
              <a:t>Policy Delta Simulator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A dedicated scenario simulation backend enabling urban planners to adjust policy deltas (e.g., -30% traffic, -20% factory emissions).</a:t>
            </a:r>
            <a:br/>
            <a:br/>
            <a:r>
              <a:t>It re-calculates predicted AQI gains instantly, providing actionable quantitative yield data before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F8F9B"/>
                </a:solidFill>
              </a:defRPr>
            </a:pPr>
            <a:r>
              <a:t>ENVIRONMENTAL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6516B"/>
                </a:solidFill>
              </a:defRPr>
            </a:pPr>
            <a:r>
              <a:t>System Architecture: End-to-End Pipeline Infrastructure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6F3EC"/>
                          </a:solidFill>
                        </a:defRPr>
                      </a:pPr>
                      <a:r>
                        <a:t>System Layer</a:t>
                      </a:r>
                    </a:p>
                  </a:txBody>
                  <a:tcPr>
                    <a:solidFill>
                      <a:srgbClr val="7651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6F3EC"/>
                          </a:solidFill>
                        </a:defRPr>
                      </a:pPr>
                      <a:r>
                        <a:t>Technologies</a:t>
                      </a:r>
                    </a:p>
                  </a:txBody>
                  <a:tcPr>
                    <a:solidFill>
                      <a:srgbClr val="7651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6F3EC"/>
                          </a:solidFill>
                        </a:defRPr>
                      </a:pPr>
                      <a:r>
                        <a:t>Core Operational Responsibilities</a:t>
                      </a:r>
                    </a:p>
                  </a:txBody>
                  <a:tcPr>
                    <a:solidFill>
                      <a:srgbClr val="7651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Data Pipeline</a:t>
                      </a:r>
                    </a:p>
                  </a:txBody>
                  <a:tcPr>
                    <a:solidFill>
                      <a:srgbClr val="8FB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Open-Meteo, OSM API</a:t>
                      </a:r>
                    </a:p>
                  </a:txBody>
                  <a:tcPr>
                    <a:solidFill>
                      <a:srgbClr val="8FB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Ingests atmospheric weather, factory spatial density, and diurnal rush-hour traffic proxies. Applies IQR outlier capping.</a:t>
                      </a:r>
                    </a:p>
                  </a:txBody>
                  <a:tcPr>
                    <a:solidFill>
                      <a:srgbClr val="8FB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ML Engine Core</a:t>
                      </a:r>
                    </a:p>
                  </a:txBody>
                  <a:tcPr>
                    <a:solidFill>
                      <a:srgbClr val="E6E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Scikit-Learn, Joblib</a:t>
                      </a:r>
                    </a:p>
                  </a:txBody>
                  <a:tcPr>
                    <a:solidFill>
                      <a:srgbClr val="E6E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Random Forest Regressor (100 trees, max depth 12). Evaluated via 5-Fold Cross-Validation and serialized as a lightweight artifact.</a:t>
                      </a:r>
                    </a:p>
                  </a:txBody>
                  <a:tcPr>
                    <a:solidFill>
                      <a:srgbClr val="E6E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8FB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FastAPI, Pydantic</a:t>
                      </a:r>
                    </a:p>
                  </a:txBody>
                  <a:tcPr>
                    <a:solidFill>
                      <a:srgbClr val="8FB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Asynchronous HTTP engine providing POST /predict for inference and POST /simulate for real-time scenario delta processing.</a:t>
                      </a:r>
                    </a:p>
                  </a:txBody>
                  <a:tcPr>
                    <a:solidFill>
                      <a:srgbClr val="8FB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Control Dashboard</a:t>
                      </a:r>
                    </a:p>
                  </a:txBody>
                  <a:tcPr>
                    <a:solidFill>
                      <a:srgbClr val="E6E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E6E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Interactive decision interface with policy sliders, live AQI risk indicators, and side-by-side scenario comparison charts.</a:t>
                      </a:r>
                    </a:p>
                  </a:txBody>
                  <a:tcPr>
                    <a:solidFill>
                      <a:srgbClr val="E6E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8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FBF9F"/>
                </a:solidFill>
              </a:defRPr>
            </a:pPr>
            <a:r>
              <a:t>ENVIRONMENTAL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6F3EC"/>
                </a:solidFill>
              </a:defRPr>
            </a:pPr>
            <a:r>
              <a:t>Actionable Municipal Applications &amp; Simulations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3291840" cy="4572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76516B"/>
                </a:solidFill>
              </a:defRPr>
            </a:pPr>
            <a:r>
              <a:t>-30%</a:t>
            </a:r>
          </a:p>
          <a:p>
            <a:pPr>
              <a:spcAft>
                <a:spcPts val="1200"/>
              </a:spcAft>
              <a:defRPr sz="1800" b="1">
                <a:solidFill>
                  <a:srgbClr val="6F8F9B"/>
                </a:solidFill>
              </a:defRPr>
            </a:pPr>
            <a:r>
              <a:t>Traffic Restrictions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Simulating 'Odd-Even' vehicle bans during stagnant, low-wind winter days to test if traffic cuts alone drop AQI below severe thresholds.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76516B"/>
                </a:solidFill>
              </a:defRPr>
            </a:pPr>
            <a:r>
              <a:t>-50%</a:t>
            </a:r>
          </a:p>
          <a:p>
            <a:pPr>
              <a:spcAft>
                <a:spcPts val="1200"/>
              </a:spcAft>
              <a:defRPr sz="1800" b="1">
                <a:solidFill>
                  <a:srgbClr val="6F8F9B"/>
                </a:solidFill>
              </a:defRPr>
            </a:pPr>
            <a:r>
              <a:t>Industrial Curtailment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Modeling an operational cap on factories within a 25km radius during inversion events, balancing air safety against industrial downtime.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645920"/>
            <a:ext cx="3291840" cy="4572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76516B"/>
                </a:solidFill>
              </a:defRPr>
            </a:pPr>
            <a:r>
              <a:t>Long-Term</a:t>
            </a:r>
          </a:p>
          <a:p>
            <a:pPr>
              <a:spcAft>
                <a:spcPts val="1200"/>
              </a:spcAft>
              <a:defRPr sz="1800" b="1">
                <a:solidFill>
                  <a:srgbClr val="6F8F9B"/>
                </a:solidFill>
              </a:defRPr>
            </a:pPr>
            <a:r>
              <a:t>Urban Planning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Evaluating high-capital infrastructure changes like low-emission zones or bus fleet electrification to forecast long-term AQI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F8F9B"/>
                </a:solidFill>
              </a:defRPr>
            </a:pPr>
            <a:r>
              <a:t>ENVIRONMENTAL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6516B"/>
                </a:solidFill>
              </a:defRPr>
            </a:pPr>
            <a:r>
              <a:t>Model Performance &amp; Diagnostic Validation</a:t>
            </a:r>
          </a:p>
        </p:txBody>
      </p:sp>
      <p:pic>
        <p:nvPicPr>
          <p:cNvPr id="5" name="Picture 4" descr="ml_mode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583680" cy="23513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645920"/>
            <a:ext cx="3657600" cy="2011680"/>
          </a:xfrm>
          <a:prstGeom prst="rect">
            <a:avLst/>
          </a:prstGeom>
          <a:solidFill>
            <a:srgbClr val="7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tlCol="0" anchor="ctr"/>
          <a:lstStyle/>
          <a:p>
            <a:pPr algn="ctr">
              <a:defRPr sz="3800" b="1">
                <a:solidFill>
                  <a:srgbClr val="8FBF9F"/>
                </a:solidFill>
              </a:defRPr>
            </a:pPr>
            <a:r>
              <a:t>&lt; 8.5 MAE</a:t>
            </a:r>
          </a:p>
          <a:p>
            <a:pPr>
              <a:spcAft>
                <a:spcPts val="400"/>
              </a:spcAft>
              <a:defRPr sz="1400" b="1">
                <a:solidFill>
                  <a:srgbClr val="F6F3EC"/>
                </a:solidFill>
              </a:defRPr>
            </a:pPr>
            <a:r>
              <a:t>Target Accuracy Level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Outperforms the ~38.4 baseline mean estimation error by over 75%.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384048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F8F9B"/>
                </a:solidFill>
              </a:defRPr>
            </a:pPr>
            <a:r>
              <a:t>Diagnostic Key Insights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Cross-Validation: Verified consistency across 5 distinct data folds with zero temporal overfitting.</a:t>
            </a:r>
            <a:br/>
            <a:br/>
            <a:r>
              <a:t>• Primary Feature Drivers: Traffic density and factory counts dictate baseline emissions, while wind speed acts as the primary natural dispersion mechanism.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6F3EC"/>
                </a:solidFill>
              </a:defRPr>
            </a:pPr>
            <a:r>
              <a:t>Development Roadmap &amp; Future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3291840" cy="4572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76516B"/>
                </a:solidFill>
              </a:defRPr>
            </a:pPr>
            <a:r>
              <a:rPr sz="3200" dirty="0"/>
              <a:t>PHASE 01</a:t>
            </a: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rPr dirty="0"/>
              <a:t>ML Core Engine</a:t>
            </a:r>
          </a:p>
          <a:p>
            <a:pPr>
              <a:spcAft>
                <a:spcPts val="1400"/>
              </a:spcAft>
              <a:defRPr sz="1000" b="1">
                <a:solidFill>
                  <a:srgbClr val="475569"/>
                </a:solidFill>
              </a:defRPr>
            </a:pPr>
            <a:r>
              <a:rPr sz="1400" dirty="0"/>
              <a:t>COMPLETED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400" dirty="0"/>
              <a:t>Data pipeline built with weather and spatial APIs. Outliers capped via IQR. Random Forest model trained, cross-validated, and serialized as </a:t>
            </a:r>
            <a:r>
              <a:rPr sz="1400" dirty="0" err="1"/>
              <a:t>joblib</a:t>
            </a:r>
            <a:r>
              <a:rPr sz="1400" dirty="0"/>
              <a:t> artifact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8FB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76516B"/>
                </a:solidFill>
              </a:defRPr>
            </a:pPr>
            <a:r>
              <a:rPr sz="3200" dirty="0"/>
              <a:t>PHASE 02</a:t>
            </a: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rPr dirty="0"/>
              <a:t>Full-Stack Integration</a:t>
            </a:r>
          </a:p>
          <a:p>
            <a:pPr>
              <a:spcAft>
                <a:spcPts val="1400"/>
              </a:spcAft>
              <a:defRPr sz="1000" b="1">
                <a:solidFill>
                  <a:srgbClr val="475569"/>
                </a:solidFill>
              </a:defRPr>
            </a:pPr>
            <a:r>
              <a:rPr sz="1400" dirty="0"/>
              <a:t>IN PROGRESS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400" dirty="0" err="1"/>
              <a:t>FastAPI</a:t>
            </a:r>
            <a:r>
              <a:rPr sz="1400" dirty="0"/>
              <a:t> backend implementation with asynchronous POST /predict and POST /simulate endpoints. Interactive </a:t>
            </a:r>
            <a:r>
              <a:rPr sz="1400" dirty="0" err="1"/>
              <a:t>Streamlit</a:t>
            </a:r>
            <a:r>
              <a:rPr sz="1400" dirty="0"/>
              <a:t> dashboard with policy sliders.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645920"/>
            <a:ext cx="3291840" cy="4572000"/>
          </a:xfrm>
          <a:prstGeom prst="rect">
            <a:avLst/>
          </a:prstGeom>
          <a:solidFill>
            <a:srgbClr val="6F8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76516B"/>
                </a:solidFill>
              </a:defRPr>
            </a:pPr>
            <a:r>
              <a:rPr sz="3200" dirty="0"/>
              <a:t>PHASE 03</a:t>
            </a:r>
          </a:p>
          <a:p>
            <a:pPr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rPr dirty="0"/>
              <a:t>Spatial Expansion</a:t>
            </a:r>
          </a:p>
          <a:p>
            <a:pPr>
              <a:spcAft>
                <a:spcPts val="1400"/>
              </a:spcAft>
              <a:defRPr sz="1000" b="1">
                <a:solidFill>
                  <a:srgbClr val="475569"/>
                </a:solidFill>
              </a:defRPr>
            </a:pPr>
            <a:r>
              <a:rPr sz="1400" dirty="0"/>
              <a:t>FUTURE SCOPE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400" dirty="0"/>
              <a:t>Ingestion of Sentinel-5P satellite aerosol data. Expansion from single-city predictions to multi-zone spatial grid heatmaps and LSTM time-series forecasts.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631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Amrit Mathur</cp:lastModifiedBy>
  <cp:revision>2</cp:revision>
  <dcterms:created xsi:type="dcterms:W3CDTF">2013-01-27T09:14:16Z</dcterms:created>
  <dcterms:modified xsi:type="dcterms:W3CDTF">2026-10-06T18:41:24Z</dcterms:modified>
  <cp:category/>
</cp:coreProperties>
</file>